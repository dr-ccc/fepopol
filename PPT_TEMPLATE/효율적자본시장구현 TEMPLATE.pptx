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6" r:id="rId3"/>
    <p:sldId id="300" r:id="rId4"/>
    <p:sldId id="311" r:id="rId5"/>
    <p:sldId id="312" r:id="rId6"/>
    <p:sldId id="313" r:id="rId7"/>
    <p:sldId id="314" r:id="rId8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00ABCF6-DDB3-423F-AA14-FE39F5521C9F}">
          <p14:sldIdLst>
            <p14:sldId id="258"/>
            <p14:sldId id="256"/>
            <p14:sldId id="30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8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06" autoAdjust="0"/>
    <p:restoredTop sz="85519" autoAdjust="0"/>
  </p:normalViewPr>
  <p:slideViewPr>
    <p:cSldViewPr>
      <p:cViewPr varScale="1">
        <p:scale>
          <a:sx n="92" d="100"/>
          <a:sy n="92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3762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9DA0E-921F-4BD1-834B-7B73DFC84C04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9B63B-2B30-404D-922C-789D1883AA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73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9B63B-2B30-404D-922C-789D1883AA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21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3D43-5D54-4CC8-A429-A00B2AB80656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07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5930-C897-45C1-BC56-0304581C5517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32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4CB4-028E-4811-90E2-252CD11432A1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77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67A87-FC92-4467-A960-284C7C738780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83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3780-F7AE-41EA-8C48-FA379B1B59C4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99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E0CBA-D016-4AD1-B4FD-8A96FB8A64CB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325A-46F5-463A-A5CF-D7CB92C1F05B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11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E507-1051-4A32-A60E-29DB6A4A0DF1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90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EC1A9-7C8F-4AC2-9C91-F2096077D180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5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294F-6438-4195-8EB5-DD574D72DC96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8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70B7-E223-4787-8B1C-2AE9F497A74A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7E89-2597-4D5F-BDBD-97BC0678A2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08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7FBD-EF10-40F7-9E1D-ADB44235D230}" type="datetime1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568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87780" y="2709954"/>
            <a:ext cx="6568442" cy="943848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381885" y="2858712"/>
            <a:ext cx="6380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효율적 자본시장선 구현</a:t>
            </a:r>
            <a:endParaRPr lang="en-US" altLang="ko-KR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9998" y="4365104"/>
            <a:ext cx="201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n-ea"/>
              </a:rPr>
              <a:t>조 </a:t>
            </a:r>
            <a:r>
              <a:rPr lang="en-US" altLang="ko-KR" sz="2000" b="1" dirty="0">
                <a:latin typeface="+mn-ea"/>
              </a:rPr>
              <a:t>:</a:t>
            </a:r>
          </a:p>
          <a:p>
            <a:r>
              <a:rPr lang="en-US" altLang="ko-KR" sz="2000" b="1" dirty="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740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67544" y="433636"/>
            <a:ext cx="2304256" cy="422109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7544" y="467488"/>
            <a:ext cx="230425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Contents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508105" y="1316766"/>
            <a:ext cx="45719" cy="4108863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08105" y="2074168"/>
            <a:ext cx="3361063" cy="2476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효율적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투자선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및 자본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시장선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데이터 선택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분석 방법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분석 결과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1</a:t>
            </a: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분석 결과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164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4023566" y="358858"/>
            <a:ext cx="848202" cy="248467"/>
          </a:xfrm>
          <a:prstGeom prst="round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Theorem</a:t>
            </a:r>
            <a:endParaRPr lang="ko-KR" altLang="en-US" sz="900" b="1" dirty="0"/>
          </a:p>
        </p:txBody>
      </p:sp>
      <p:sp>
        <p:nvSpPr>
          <p:cNvPr id="6" name="직사각형 5"/>
          <p:cNvSpPr/>
          <p:nvPr/>
        </p:nvSpPr>
        <p:spPr>
          <a:xfrm>
            <a:off x="323528" y="260648"/>
            <a:ext cx="8568952" cy="6408711"/>
          </a:xfrm>
          <a:prstGeom prst="rect">
            <a:avLst/>
          </a:prstGeom>
          <a:noFill/>
          <a:ln w="28575">
            <a:solidFill>
              <a:srgbClr val="051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23528" y="692696"/>
            <a:ext cx="8568952" cy="741412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3528" y="764141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+mn-ea"/>
              </a:rPr>
              <a:t>Theorem</a:t>
            </a:r>
            <a:endParaRPr lang="ko-KR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1844824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효율적 </a:t>
            </a:r>
            <a:r>
              <a:rPr lang="ko-KR" altLang="en-US" dirty="0" err="1"/>
              <a:t>투자선</a:t>
            </a:r>
            <a:r>
              <a:rPr lang="ko-KR" altLang="en-US" dirty="0"/>
              <a:t> 및 자본 </a:t>
            </a:r>
            <a:r>
              <a:rPr lang="ko-KR" altLang="en-US" dirty="0" err="1"/>
              <a:t>시장선</a:t>
            </a:r>
            <a:r>
              <a:rPr lang="ko-KR" altLang="en-US" dirty="0"/>
              <a:t> 설명</a:t>
            </a:r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67364B49-B93C-4CE8-8C56-4BC4789F83B4}"/>
              </a:ext>
            </a:extLst>
          </p:cNvPr>
          <p:cNvSpPr/>
          <p:nvPr/>
        </p:nvSpPr>
        <p:spPr>
          <a:xfrm>
            <a:off x="4944313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데이터 선택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B3D98FA0-2F6E-4C50-B462-E1CB6DDF45DC}"/>
              </a:ext>
            </a:extLst>
          </p:cNvPr>
          <p:cNvSpPr/>
          <p:nvPr/>
        </p:nvSpPr>
        <p:spPr>
          <a:xfrm>
            <a:off x="6796839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3C903EB-E2BE-4F44-B5AB-F7FAEA8E32BD}"/>
              </a:ext>
            </a:extLst>
          </p:cNvPr>
          <p:cNvSpPr/>
          <p:nvPr/>
        </p:nvSpPr>
        <p:spPr>
          <a:xfrm>
            <a:off x="7723102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0">
            <a:extLst>
              <a:ext uri="{FF2B5EF4-FFF2-40B4-BE49-F238E27FC236}">
                <a16:creationId xmlns:a16="http://schemas.microsoft.com/office/drawing/2014/main" id="{0777E7D0-B3A2-476C-BED9-50A4408FDBB0}"/>
              </a:ext>
            </a:extLst>
          </p:cNvPr>
          <p:cNvSpPr/>
          <p:nvPr/>
        </p:nvSpPr>
        <p:spPr>
          <a:xfrm>
            <a:off x="587057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방법</a:t>
            </a:r>
          </a:p>
        </p:txBody>
      </p:sp>
    </p:spTree>
    <p:extLst>
      <p:ext uri="{BB962C8B-B14F-4D97-AF65-F5344CB8AC3E}">
        <p14:creationId xmlns:p14="http://schemas.microsoft.com/office/powerpoint/2010/main" val="408262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402356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Theorem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3528" y="260648"/>
            <a:ext cx="8568952" cy="6408711"/>
          </a:xfrm>
          <a:prstGeom prst="rect">
            <a:avLst/>
          </a:prstGeom>
          <a:noFill/>
          <a:ln w="28575">
            <a:solidFill>
              <a:srgbClr val="051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23528" y="692696"/>
            <a:ext cx="8568952" cy="741412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3528" y="764141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>
                <a:solidFill>
                  <a:schemeClr val="bg1"/>
                </a:solidFill>
                <a:latin typeface="+mn-ea"/>
              </a:rPr>
              <a:t>데이터 선택</a:t>
            </a:r>
            <a:endParaRPr lang="ko-KR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1844824"/>
            <a:ext cx="784887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선택한 데이터 소개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sz="1600" dirty="0"/>
              <a:t>데이터 개요</a:t>
            </a:r>
            <a:endParaRPr lang="en-US" altLang="ko-KR" sz="1600" dirty="0"/>
          </a:p>
          <a:p>
            <a:pPr marL="800100" lvl="1" indent="-342900">
              <a:buAutoNum type="arabicParenR"/>
            </a:pPr>
            <a:r>
              <a:rPr lang="ko-KR" altLang="en-US" sz="1600" dirty="0"/>
              <a:t>데이터 기간</a:t>
            </a:r>
            <a:endParaRPr lang="en-US" altLang="ko-KR" sz="1600" dirty="0"/>
          </a:p>
          <a:p>
            <a:pPr marL="800100" lvl="1" indent="-342900">
              <a:buAutoNum type="arabicParenR"/>
            </a:pPr>
            <a:r>
              <a:rPr lang="ko-KR" altLang="en-US" sz="1600" dirty="0"/>
              <a:t>데이터 특징</a:t>
            </a:r>
            <a:endParaRPr lang="en-US" altLang="ko-KR" sz="1600" dirty="0"/>
          </a:p>
          <a:p>
            <a:pPr marL="800100" lvl="1" indent="-342900">
              <a:buAutoNum type="arabicParenR"/>
            </a:pPr>
            <a:r>
              <a:rPr lang="ko-KR" altLang="en-US" sz="1600" dirty="0"/>
              <a:t>데이터 출처 등</a:t>
            </a:r>
            <a:endParaRPr lang="en-US" altLang="ko-KR" sz="1600" dirty="0"/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67364B49-B93C-4CE8-8C56-4BC4789F83B4}"/>
              </a:ext>
            </a:extLst>
          </p:cNvPr>
          <p:cNvSpPr/>
          <p:nvPr/>
        </p:nvSpPr>
        <p:spPr>
          <a:xfrm>
            <a:off x="4944313" y="358858"/>
            <a:ext cx="848202" cy="248467"/>
          </a:xfrm>
          <a:prstGeom prst="round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데이터 선택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B3D98FA0-2F6E-4C50-B462-E1CB6DDF45DC}"/>
              </a:ext>
            </a:extLst>
          </p:cNvPr>
          <p:cNvSpPr/>
          <p:nvPr/>
        </p:nvSpPr>
        <p:spPr>
          <a:xfrm>
            <a:off x="6796839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3C903EB-E2BE-4F44-B5AB-F7FAEA8E32BD}"/>
              </a:ext>
            </a:extLst>
          </p:cNvPr>
          <p:cNvSpPr/>
          <p:nvPr/>
        </p:nvSpPr>
        <p:spPr>
          <a:xfrm>
            <a:off x="7723102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0">
            <a:extLst>
              <a:ext uri="{FF2B5EF4-FFF2-40B4-BE49-F238E27FC236}">
                <a16:creationId xmlns:a16="http://schemas.microsoft.com/office/drawing/2014/main" id="{0777E7D0-B3A2-476C-BED9-50A4408FDBB0}"/>
              </a:ext>
            </a:extLst>
          </p:cNvPr>
          <p:cNvSpPr/>
          <p:nvPr/>
        </p:nvSpPr>
        <p:spPr>
          <a:xfrm>
            <a:off x="587057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방법</a:t>
            </a:r>
          </a:p>
        </p:txBody>
      </p:sp>
    </p:spTree>
    <p:extLst>
      <p:ext uri="{BB962C8B-B14F-4D97-AF65-F5344CB8AC3E}">
        <p14:creationId xmlns:p14="http://schemas.microsoft.com/office/powerpoint/2010/main" val="313009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402356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Theorem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3528" y="260648"/>
            <a:ext cx="8568952" cy="6408711"/>
          </a:xfrm>
          <a:prstGeom prst="rect">
            <a:avLst/>
          </a:prstGeom>
          <a:noFill/>
          <a:ln w="28575">
            <a:solidFill>
              <a:srgbClr val="051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23528" y="692696"/>
            <a:ext cx="8568952" cy="741412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3528" y="764141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  <a:latin typeface="+mn-ea"/>
              </a:rPr>
              <a:t>분석 방법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576" y="1844824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 분석 방법 소개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사용한 툴과 코드 소개</a:t>
            </a:r>
            <a:endParaRPr lang="en-US" altLang="ko-KR" dirty="0"/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67364B49-B93C-4CE8-8C56-4BC4789F83B4}"/>
              </a:ext>
            </a:extLst>
          </p:cNvPr>
          <p:cNvSpPr/>
          <p:nvPr/>
        </p:nvSpPr>
        <p:spPr>
          <a:xfrm>
            <a:off x="4944313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데이터 선택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B3D98FA0-2F6E-4C50-B462-E1CB6DDF45DC}"/>
              </a:ext>
            </a:extLst>
          </p:cNvPr>
          <p:cNvSpPr/>
          <p:nvPr/>
        </p:nvSpPr>
        <p:spPr>
          <a:xfrm>
            <a:off x="6796839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3C903EB-E2BE-4F44-B5AB-F7FAEA8E32BD}"/>
              </a:ext>
            </a:extLst>
          </p:cNvPr>
          <p:cNvSpPr/>
          <p:nvPr/>
        </p:nvSpPr>
        <p:spPr>
          <a:xfrm>
            <a:off x="7723102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0">
            <a:extLst>
              <a:ext uri="{FF2B5EF4-FFF2-40B4-BE49-F238E27FC236}">
                <a16:creationId xmlns:a16="http://schemas.microsoft.com/office/drawing/2014/main" id="{0777E7D0-B3A2-476C-BED9-50A4408FDBB0}"/>
              </a:ext>
            </a:extLst>
          </p:cNvPr>
          <p:cNvSpPr/>
          <p:nvPr/>
        </p:nvSpPr>
        <p:spPr>
          <a:xfrm>
            <a:off x="5870576" y="358858"/>
            <a:ext cx="848202" cy="248467"/>
          </a:xfrm>
          <a:prstGeom prst="round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분석 방법</a:t>
            </a:r>
          </a:p>
        </p:txBody>
      </p:sp>
    </p:spTree>
    <p:extLst>
      <p:ext uri="{BB962C8B-B14F-4D97-AF65-F5344CB8AC3E}">
        <p14:creationId xmlns:p14="http://schemas.microsoft.com/office/powerpoint/2010/main" val="129475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402356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Theorem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3528" y="260648"/>
            <a:ext cx="8568952" cy="6408711"/>
          </a:xfrm>
          <a:prstGeom prst="rect">
            <a:avLst/>
          </a:prstGeom>
          <a:noFill/>
          <a:ln w="28575">
            <a:solidFill>
              <a:srgbClr val="051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23528" y="692696"/>
            <a:ext cx="8568952" cy="741412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3528" y="764141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  <a:latin typeface="+mn-ea"/>
              </a:rPr>
              <a:t>분석 결과 </a:t>
            </a:r>
            <a:r>
              <a:rPr lang="en-US" altLang="ko-KR" sz="3200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1844824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포트폴리오 시뮬레이션 및 최적화 결과 해석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시뮬레이션 결과 시각화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포트폴리오 최적화를 통한 최대 샤프지수</a:t>
            </a:r>
            <a:r>
              <a:rPr lang="en-US" altLang="ko-KR" dirty="0"/>
              <a:t>, </a:t>
            </a:r>
            <a:r>
              <a:rPr lang="ko-KR" altLang="en-US" dirty="0"/>
              <a:t>최소 변동성에 해당하는 가중치</a:t>
            </a:r>
            <a:r>
              <a:rPr lang="en-US" altLang="ko-KR" dirty="0"/>
              <a:t>, </a:t>
            </a:r>
            <a:r>
              <a:rPr lang="ko-KR" altLang="en-US" dirty="0"/>
              <a:t>수익률</a:t>
            </a:r>
            <a:r>
              <a:rPr lang="en-US" altLang="ko-KR" dirty="0"/>
              <a:t>, </a:t>
            </a:r>
            <a:r>
              <a:rPr lang="ko-KR" altLang="en-US" dirty="0"/>
              <a:t>변동성 샤프지수 제시</a:t>
            </a:r>
            <a:endParaRPr lang="en-US" altLang="ko-KR" dirty="0"/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67364B49-B93C-4CE8-8C56-4BC4789F83B4}"/>
              </a:ext>
            </a:extLst>
          </p:cNvPr>
          <p:cNvSpPr/>
          <p:nvPr/>
        </p:nvSpPr>
        <p:spPr>
          <a:xfrm>
            <a:off x="4944313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데이터 선택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B3D98FA0-2F6E-4C50-B462-E1CB6DDF45DC}"/>
              </a:ext>
            </a:extLst>
          </p:cNvPr>
          <p:cNvSpPr/>
          <p:nvPr/>
        </p:nvSpPr>
        <p:spPr>
          <a:xfrm>
            <a:off x="6796839" y="358858"/>
            <a:ext cx="848202" cy="248467"/>
          </a:xfrm>
          <a:prstGeom prst="round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분석 </a:t>
            </a:r>
            <a:r>
              <a:rPr lang="ko-KR" altLang="en-US" sz="900" b="1"/>
              <a:t>결과 </a:t>
            </a:r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3C903EB-E2BE-4F44-B5AB-F7FAEA8E32BD}"/>
              </a:ext>
            </a:extLst>
          </p:cNvPr>
          <p:cNvSpPr/>
          <p:nvPr/>
        </p:nvSpPr>
        <p:spPr>
          <a:xfrm>
            <a:off x="7723102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0">
            <a:extLst>
              <a:ext uri="{FF2B5EF4-FFF2-40B4-BE49-F238E27FC236}">
                <a16:creationId xmlns:a16="http://schemas.microsoft.com/office/drawing/2014/main" id="{0777E7D0-B3A2-476C-BED9-50A4408FDBB0}"/>
              </a:ext>
            </a:extLst>
          </p:cNvPr>
          <p:cNvSpPr/>
          <p:nvPr/>
        </p:nvSpPr>
        <p:spPr>
          <a:xfrm>
            <a:off x="587057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방법</a:t>
            </a:r>
          </a:p>
        </p:txBody>
      </p:sp>
      <p:graphicFrame>
        <p:nvGraphicFramePr>
          <p:cNvPr id="3" name="표 20">
            <a:extLst>
              <a:ext uri="{FF2B5EF4-FFF2-40B4-BE49-F238E27FC236}">
                <a16:creationId xmlns:a16="http://schemas.microsoft.com/office/drawing/2014/main" id="{8C55998A-5327-BB28-941D-781541308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90171"/>
              </p:ext>
            </p:extLst>
          </p:nvPr>
        </p:nvGraphicFramePr>
        <p:xfrm>
          <a:off x="2174017" y="3539170"/>
          <a:ext cx="4513054" cy="2626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228">
                  <a:extLst>
                    <a:ext uri="{9D8B030D-6E8A-4147-A177-3AD203B41FA5}">
                      <a16:colId xmlns:a16="http://schemas.microsoft.com/office/drawing/2014/main" val="448973113"/>
                    </a:ext>
                  </a:extLst>
                </a:gridCol>
                <a:gridCol w="1880913">
                  <a:extLst>
                    <a:ext uri="{9D8B030D-6E8A-4147-A177-3AD203B41FA5}">
                      <a16:colId xmlns:a16="http://schemas.microsoft.com/office/drawing/2014/main" val="1569388014"/>
                    </a:ext>
                  </a:extLst>
                </a:gridCol>
                <a:gridCol w="1880913">
                  <a:extLst>
                    <a:ext uri="{9D8B030D-6E8A-4147-A177-3AD203B41FA5}">
                      <a16:colId xmlns:a16="http://schemas.microsoft.com/office/drawing/2014/main" val="291603062"/>
                    </a:ext>
                  </a:extLst>
                </a:gridCol>
              </a:tblGrid>
              <a:tr h="424706">
                <a:tc>
                  <a:txBody>
                    <a:bodyPr/>
                    <a:lstStyle/>
                    <a:p>
                      <a:pPr algn="ctr" latinLnBrk="1"/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샤프 지수 최대화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최소 변동성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013552"/>
                  </a:ext>
                </a:extLst>
              </a:tr>
              <a:tr h="550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782926"/>
                  </a:ext>
                </a:extLst>
              </a:tr>
              <a:tr h="550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수익률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5477"/>
                  </a:ext>
                </a:extLst>
              </a:tr>
              <a:tr h="550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33087"/>
                  </a:ext>
                </a:extLst>
              </a:tr>
              <a:tr h="550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샤프</a:t>
                      </a:r>
                      <a:endParaRPr lang="en-US" altLang="ko-KR" sz="1050"/>
                    </a:p>
                    <a:p>
                      <a:pPr algn="ctr" latinLnBrk="1"/>
                      <a:r>
                        <a:rPr lang="ko-KR" altLang="en-US" sz="1050"/>
                        <a:t>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1920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6C6AD0-E131-9B65-D44A-FF3EC1FA9573}"/>
              </a:ext>
            </a:extLst>
          </p:cNvPr>
          <p:cNvSpPr txBox="1"/>
          <p:nvPr/>
        </p:nvSpPr>
        <p:spPr>
          <a:xfrm>
            <a:off x="899592" y="314263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8746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402356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Theorem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3528" y="260648"/>
            <a:ext cx="8568952" cy="6408711"/>
          </a:xfrm>
          <a:prstGeom prst="rect">
            <a:avLst/>
          </a:prstGeom>
          <a:noFill/>
          <a:ln w="28575">
            <a:solidFill>
              <a:srgbClr val="0518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7E89-2597-4D5F-BDBD-97BC0678A212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23528" y="692696"/>
            <a:ext cx="8568952" cy="741412"/>
          </a:xfrm>
          <a:prstGeom prst="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23528" y="764141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  <a:latin typeface="+mn-ea"/>
              </a:rPr>
              <a:t>분석 결과 </a:t>
            </a:r>
            <a:r>
              <a:rPr lang="en-US" altLang="ko-KR" sz="3200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1844824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효율적 </a:t>
            </a:r>
            <a:r>
              <a:rPr lang="ko-KR" altLang="en-US" dirty="0" err="1"/>
              <a:t>투자선</a:t>
            </a:r>
            <a:r>
              <a:rPr lang="ko-KR" altLang="en-US" dirty="0"/>
              <a:t> 및 자본 </a:t>
            </a:r>
            <a:r>
              <a:rPr lang="ko-KR" altLang="en-US" dirty="0" err="1"/>
              <a:t>시장선</a:t>
            </a:r>
            <a:r>
              <a:rPr lang="ko-KR" altLang="en-US" dirty="0"/>
              <a:t> 해석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효율적 </a:t>
            </a:r>
            <a:r>
              <a:rPr lang="ko-KR" altLang="en-US" dirty="0" err="1"/>
              <a:t>투자선</a:t>
            </a:r>
            <a:r>
              <a:rPr lang="ko-KR" altLang="en-US" dirty="0"/>
              <a:t> 및 자본 </a:t>
            </a:r>
            <a:r>
              <a:rPr lang="ko-KR" altLang="en-US" dirty="0" err="1"/>
              <a:t>시장선</a:t>
            </a:r>
            <a:r>
              <a:rPr lang="ko-KR" altLang="en-US" dirty="0"/>
              <a:t> 시각화</a:t>
            </a:r>
            <a:r>
              <a:rPr lang="en-US" altLang="ko-KR" dirty="0"/>
              <a:t>(</a:t>
            </a:r>
            <a:r>
              <a:rPr lang="ko-KR" altLang="en-US" dirty="0"/>
              <a:t>최대 샤프지수</a:t>
            </a:r>
            <a:r>
              <a:rPr lang="en-US" altLang="ko-KR" dirty="0"/>
              <a:t>, </a:t>
            </a:r>
            <a:r>
              <a:rPr lang="ko-KR" altLang="en-US" dirty="0"/>
              <a:t>최소 변동성 포트폴리오</a:t>
            </a:r>
            <a:r>
              <a:rPr lang="en-US" altLang="ko-KR" dirty="0"/>
              <a:t>, </a:t>
            </a:r>
            <a:r>
              <a:rPr lang="ko-KR" altLang="en-US" dirty="0"/>
              <a:t>최적의 포트폴리오 또한 그래프에 표기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결과에 대한 해석</a:t>
            </a:r>
            <a:endParaRPr lang="en-US" altLang="ko-KR" dirty="0"/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67364B49-B93C-4CE8-8C56-4BC4789F83B4}"/>
              </a:ext>
            </a:extLst>
          </p:cNvPr>
          <p:cNvSpPr/>
          <p:nvPr/>
        </p:nvSpPr>
        <p:spPr>
          <a:xfrm>
            <a:off x="4944313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데이터 선택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B3D98FA0-2F6E-4C50-B462-E1CB6DDF45DC}"/>
              </a:ext>
            </a:extLst>
          </p:cNvPr>
          <p:cNvSpPr/>
          <p:nvPr/>
        </p:nvSpPr>
        <p:spPr>
          <a:xfrm>
            <a:off x="6796839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결과 </a:t>
            </a:r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D3C903EB-E2BE-4F44-B5AB-F7FAEA8E32BD}"/>
              </a:ext>
            </a:extLst>
          </p:cNvPr>
          <p:cNvSpPr/>
          <p:nvPr/>
        </p:nvSpPr>
        <p:spPr>
          <a:xfrm>
            <a:off x="7723102" y="358858"/>
            <a:ext cx="848202" cy="248467"/>
          </a:xfrm>
          <a:prstGeom prst="roundRect">
            <a:avLst/>
          </a:prstGeom>
          <a:solidFill>
            <a:srgbClr val="051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분석 결과 </a:t>
            </a:r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6" name="모서리가 둥근 직사각형 10">
            <a:extLst>
              <a:ext uri="{FF2B5EF4-FFF2-40B4-BE49-F238E27FC236}">
                <a16:creationId xmlns:a16="http://schemas.microsoft.com/office/drawing/2014/main" id="{0777E7D0-B3A2-476C-BED9-50A4408FDBB0}"/>
              </a:ext>
            </a:extLst>
          </p:cNvPr>
          <p:cNvSpPr/>
          <p:nvPr/>
        </p:nvSpPr>
        <p:spPr>
          <a:xfrm>
            <a:off x="5870576" y="358858"/>
            <a:ext cx="848202" cy="2484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분석 방법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D86A94-6DE0-AAA9-7E2C-D013D06C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27" y="4191911"/>
            <a:ext cx="5145500" cy="17207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70C9FFD-CC43-F351-EE08-6F96B8212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74" y="3939291"/>
            <a:ext cx="3104529" cy="22260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777E60-C04D-5C17-B1A1-14A7CAF2F9AD}"/>
              </a:ext>
            </a:extLst>
          </p:cNvPr>
          <p:cNvSpPr txBox="1"/>
          <p:nvPr/>
        </p:nvSpPr>
        <p:spPr>
          <a:xfrm>
            <a:off x="755576" y="328498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1773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186</Words>
  <Application>Microsoft Office PowerPoint</Application>
  <PresentationFormat>화면 슬라이드 쇼(4:3)</PresentationFormat>
  <Paragraphs>68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Hello</dc:creator>
  <cp:lastModifiedBy>유대혁</cp:lastModifiedBy>
  <cp:revision>154</cp:revision>
  <cp:lastPrinted>2016-05-02T07:46:20Z</cp:lastPrinted>
  <dcterms:created xsi:type="dcterms:W3CDTF">2016-04-21T09:19:55Z</dcterms:created>
  <dcterms:modified xsi:type="dcterms:W3CDTF">2025-03-26T06:39:13Z</dcterms:modified>
</cp:coreProperties>
</file>